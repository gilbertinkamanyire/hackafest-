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9728" cy="4114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  <a:latin typeface="Trebuchet MS"/>
              </a:defRPr>
            </a:pPr>
            <a:r>
              <a:t>GEMMA HACKAFEST 2026  |  LEGAL &amp; FORENSIC TRACK</a:t>
            </a:r>
          </a:p>
          <a:p>
            <a:pPr>
              <a:spcBef>
                <a:spcPts val="1000"/>
              </a:spcBef>
              <a:defRPr sz="5400" b="1">
                <a:solidFill>
                  <a:srgbClr val="F59E0B"/>
                </a:solidFill>
                <a:latin typeface="Georgia"/>
              </a:defRPr>
            </a:pPr>
            <a:r>
              <a:t>eWitnessVault</a:t>
            </a:r>
          </a:p>
          <a:p>
            <a:pPr>
              <a:spcBef>
                <a:spcPts val="1200"/>
              </a:spcBef>
              <a:defRPr sz="2400" b="1">
                <a:solidFill>
                  <a:srgbClr val="F8FAFC"/>
                </a:solidFill>
                <a:latin typeface="Trebuchet MS"/>
              </a:defRPr>
            </a:pPr>
            <a:r>
              <a:t>Tamper-Proof Evidence Vault &amp; Judicial AI Intelligence</a:t>
            </a:r>
          </a:p>
          <a:p>
            <a:pPr>
              <a:spcBef>
                <a:spcPts val="800"/>
              </a:spcBef>
              <a:defRPr sz="1600">
                <a:solidFill>
                  <a:srgbClr val="06B6D4"/>
                </a:solidFill>
                <a:latin typeface="Calibri"/>
              </a:defRPr>
            </a:pPr>
            <a:r>
              <a:t>Powered by Google Gemma 3 &amp; Gemma 2 for Private, Sovereign Legal Reasoning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486400"/>
            <a:ext cx="10728655" cy="777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5596128"/>
            <a:ext cx="8018926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2E8F0"/>
                </a:solidFill>
                <a:latin typeface="Calibri"/>
              </a:defRPr>
            </a:pPr>
            <a:r>
              <a:rPr dirty="0"/>
              <a:t>Presenter</a:t>
            </a:r>
            <a:r>
              <a:t>: </a:t>
            </a:r>
            <a:r>
              <a:rPr lang="en-US"/>
              <a:t>The Vault </a:t>
            </a:r>
            <a:r>
              <a:rPr lang="en-US" dirty="0"/>
              <a:t>Team</a:t>
            </a:r>
            <a:r>
              <a:rPr dirty="0"/>
              <a:t>|  Project: </a:t>
            </a:r>
            <a:r>
              <a:rPr dirty="0" err="1"/>
              <a:t>eWitnessVault</a:t>
            </a:r>
            <a:r>
              <a:rPr dirty="0"/>
              <a:t>  |  GitHub: </a:t>
            </a:r>
            <a:r>
              <a:rPr dirty="0" err="1"/>
              <a:t>gilbertinkamanyire</a:t>
            </a:r>
            <a:r>
              <a:rPr dirty="0"/>
              <a:t>/</a:t>
            </a:r>
            <a:r>
              <a:rPr dirty="0" err="1"/>
              <a:t>Hackafest</a:t>
            </a:r>
            <a:r>
              <a:rPr dirty="0"/>
              <a:t>-  |  Live Demo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  <a:latin typeface="Trebuchet MS"/>
              </a:defRPr>
            </a:pPr>
            <a:r>
              <a:t>[  THE PROBLEM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Georgia"/>
              </a:defRPr>
            </a:pPr>
            <a:r>
              <a:t>The Crisis in Modern Evidentiary &amp; Courtroom Justice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Digital evidence is expanding exponentially, but the judicial system is breaking under friction and mistrust.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42900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63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F4444"/>
                </a:solidFill>
                <a:latin typeface="Trebuchet MS"/>
              </a:defRPr>
            </a:pPr>
            <a:r>
              <a:t>100M+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GLOBAL CASE BACKLOG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8FAFC"/>
                </a:solidFill>
              </a:defRPr>
            </a:pPr>
            <a:r>
              <a:t>Crippling Judicial Delays</a:t>
            </a:r>
          </a:p>
          <a:p>
            <a:pPr>
              <a:lnSpc>
                <a:spcPct val="125000"/>
              </a:lnSpc>
              <a:defRPr sz="1300">
                <a:solidFill>
                  <a:srgbClr val="E2E8F0"/>
                </a:solidFill>
              </a:defRPr>
            </a:pPr>
            <a:r>
              <a:t>Courts and public defenders face months of manual evidence inspection, drowning in unorganized files, surveillance videos, and scattered witness reports.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2011680"/>
            <a:ext cx="342900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53712" y="2194560"/>
            <a:ext cx="3063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59E0B"/>
                </a:solidFill>
                <a:latin typeface="Trebuchet MS"/>
              </a:defRPr>
            </a:pPr>
            <a:r>
              <a:t>35%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EVIDENCE CHALLENGED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320040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8FAFC"/>
                </a:solidFill>
              </a:defRPr>
            </a:pPr>
            <a:r>
              <a:t>Tampering &amp; Custody Gaps</a:t>
            </a:r>
          </a:p>
          <a:p>
            <a:pPr>
              <a:lnSpc>
                <a:spcPct val="125000"/>
              </a:lnSpc>
              <a:defRPr sz="1300">
                <a:solidFill>
                  <a:srgbClr val="E2E8F0"/>
                </a:solidFill>
              </a:defRPr>
            </a:pPr>
            <a:r>
              <a:t>Evidence routinely dismissed due to missing EXIF metadata, unverified capture chains, and inability to prove media hasn't been altered or fabricated with generative 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2011680"/>
            <a:ext cx="342900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93023" y="2194560"/>
            <a:ext cx="3063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A855F7"/>
                </a:solidFill>
                <a:latin typeface="Trebuchet MS"/>
              </a:defRPr>
            </a:pPr>
            <a:r>
              <a:t>0%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ZERO PUBLIC AI PRIVACY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320040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8FAFC"/>
                </a:solidFill>
              </a:defRPr>
            </a:pPr>
            <a:r>
              <a:t>Confidentiality Redlines</a:t>
            </a:r>
          </a:p>
          <a:p>
            <a:pPr>
              <a:lnSpc>
                <a:spcPct val="125000"/>
              </a:lnSpc>
              <a:defRPr sz="1300">
                <a:solidFill>
                  <a:srgbClr val="E2E8F0"/>
                </a:solidFill>
              </a:defRPr>
            </a:pPr>
            <a:r>
              <a:t>Courts and law enforcement CANNOT paste witness testimony into public cloud AI APIs without breaching chain-of-custody laws and endangering witness safety.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  <a:latin typeface="Trebuchet MS"/>
              </a:defRPr>
            </a:pPr>
            <a:r>
              <a:t>[  THE INNOVATION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Georgia"/>
              </a:defRPr>
            </a:pPr>
            <a:r>
              <a:t>The Solution: Cryptographic Vault Meets Sovereign Gemma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047" y="1600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rPr dirty="0" err="1"/>
              <a:t>eWitnessVault</a:t>
            </a:r>
            <a:r>
              <a:rPr dirty="0"/>
              <a:t> unifies immutable digital evidence sealing with Google Gemma's open-weights intelligence.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21208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PILLAR 1: Cryptographic Vault</a:t>
            </a:r>
          </a:p>
          <a:p>
            <a:pPr>
              <a:spcAft>
                <a:spcPts val="1400"/>
              </a:spcAft>
              <a:defRPr sz="2000" b="1">
                <a:solidFill>
                  <a:srgbClr val="F8FAFC"/>
                </a:solidFill>
              </a:defRPr>
            </a:pPr>
            <a:r>
              <a:t>Tamper-Proof Digital Chain of Custody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</a:defRPr>
            </a:pPr>
            <a:r>
              <a:t>- SHA-256 Fingerprinting: </a:t>
            </a:r>
            <a:r>
              <a:rPr b="0">
                <a:solidFill>
                  <a:srgbClr val="E2E8F0"/>
                </a:solidFill>
              </a:rPr>
              <a:t>Every photo, video, audio, or document is hashed at ingestion to guarantee zero post-capture tampering.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</a:defRPr>
            </a:pPr>
            <a:r>
              <a:t>- Forensic Telemetry Sealing: </a:t>
            </a:r>
            <a:r>
              <a:rPr b="0">
                <a:solidFill>
                  <a:srgbClr val="E2E8F0"/>
                </a:solidFill>
              </a:rPr>
              <a:t>Automatically embeds device hardware ID, microsecond timestamps, GPS accuracy, and altitude.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</a:defRPr>
            </a:pPr>
            <a:r>
              <a:t>- Admissible Exhibit Dockets: </a:t>
            </a:r>
            <a:r>
              <a:rPr b="0">
                <a:solidFill>
                  <a:srgbClr val="E2E8F0"/>
                </a:solidFill>
              </a:rPr>
              <a:t>Official court-ready ledger with permanent digital seals and legal exhibit identifiers.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2011680"/>
            <a:ext cx="521208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22415" y="21945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PILLAR 2: Google Gemma Intelligence</a:t>
            </a:r>
          </a:p>
          <a:p>
            <a:pPr>
              <a:spcAft>
                <a:spcPts val="1400"/>
              </a:spcAft>
              <a:defRPr sz="2000" b="1">
                <a:solidFill>
                  <a:srgbClr val="F8FAFC"/>
                </a:solidFill>
              </a:defRPr>
            </a:pPr>
            <a:r>
              <a:t>Private Legal Reasoning &amp; Synthesis</a:t>
            </a:r>
          </a:p>
          <a:p>
            <a:pPr>
              <a:spcBef>
                <a:spcPts val="800"/>
              </a:spcBef>
              <a:defRPr sz="1300" b="1">
                <a:solidFill>
                  <a:srgbClr val="A855F7"/>
                </a:solidFill>
              </a:defRPr>
            </a:pPr>
            <a:r>
              <a:t>- Automated Evidence Forensics: </a:t>
            </a:r>
            <a:r>
              <a:rPr b="0">
                <a:solidFill>
                  <a:srgbClr val="E2E8F0"/>
                </a:solidFill>
              </a:rPr>
              <a:t>Gemma scrutinizes metadata contradictions, EXIF timelines, and drafts structured analysis reports.</a:t>
            </a:r>
          </a:p>
          <a:p>
            <a:pPr>
              <a:spcBef>
                <a:spcPts val="800"/>
              </a:spcBef>
              <a:defRPr sz="1300" b="1">
                <a:solidFill>
                  <a:srgbClr val="A855F7"/>
                </a:solidFill>
              </a:defRPr>
            </a:pPr>
            <a:r>
              <a:t>- Case Docket Brief Generator: </a:t>
            </a:r>
            <a:r>
              <a:rPr b="0">
                <a:solidFill>
                  <a:srgbClr val="E2E8F0"/>
                </a:solidFill>
              </a:rPr>
              <a:t>Synthesizes dozens of evidence items into coherent judicial case summaries with strengths and gaps.</a:t>
            </a:r>
          </a:p>
          <a:p>
            <a:pPr>
              <a:spcBef>
                <a:spcPts val="800"/>
              </a:spcBef>
              <a:defRPr sz="1300" b="1">
                <a:solidFill>
                  <a:srgbClr val="A855F7"/>
                </a:solidFill>
              </a:defRPr>
            </a:pPr>
            <a:r>
              <a:t>- 100% Private &amp; Sovereign: </a:t>
            </a:r>
            <a:r>
              <a:rPr b="0">
                <a:solidFill>
                  <a:srgbClr val="E2E8F0"/>
                </a:solidFill>
              </a:rPr>
              <a:t>Open weights allow on-premise courthouse deployment. Zero witness data leaves legal jurisdiction.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  <a:latin typeface="Trebuchet MS"/>
              </a:defRPr>
            </a:pPr>
            <a:r>
              <a:t>[  CORE CAPABILITIES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Georgia"/>
              </a:defRPr>
            </a:pPr>
            <a:r>
              <a:t>The Evidentiary AI Suite: Built with Gemma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Four production-grade judicial AI workflows engineered for judges, prosecutors, lawyers, and investigators.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6032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A855F7"/>
                </a:solidFill>
              </a:defRPr>
            </a:pPr>
            <a:r>
              <a:t>01</a:t>
            </a:r>
          </a:p>
          <a:p>
            <a:pPr>
              <a:defRPr sz="1700" b="1">
                <a:solidFill>
                  <a:srgbClr val="F8FAFC"/>
                </a:solidFill>
              </a:defRPr>
            </a:pPr>
            <a:r>
              <a:t>Evidence Forensics</a:t>
            </a:r>
          </a:p>
          <a:p>
            <a:pPr>
              <a:spcAft>
                <a:spcPts val="1200"/>
              </a:spcAft>
              <a:defRPr sz="1000" b="1">
                <a:solidFill>
                  <a:srgbClr val="94A3B8"/>
                </a:solidFill>
              </a:defRPr>
            </a:pPr>
            <a:r>
              <a:t>Exhibit-by-Exhibit Audit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Scans title, description, and telemetry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Cross-checks capture time vs upload time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Evaluates admissibility risks &amp; chain breaks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Outputs structured legal findings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2011680"/>
            <a:ext cx="256032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93592" y="214884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</a:defRPr>
            </a:pPr>
            <a:r>
              <a:t>02</a:t>
            </a:r>
          </a:p>
          <a:p>
            <a:pPr>
              <a:defRPr sz="1700" b="1">
                <a:solidFill>
                  <a:srgbClr val="F8FAFC"/>
                </a:solidFill>
              </a:defRPr>
            </a:pPr>
            <a:r>
              <a:t>Docket Briefing</a:t>
            </a:r>
          </a:p>
          <a:p>
            <a:pPr>
              <a:spcAft>
                <a:spcPts val="1200"/>
              </a:spcAft>
              <a:defRPr sz="1000" b="1">
                <a:solidFill>
                  <a:srgbClr val="94A3B8"/>
                </a:solidFill>
              </a:defRPr>
            </a:pPr>
            <a:r>
              <a:t>Multi-Evidence Synthesis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Aggregates all linked case exhibits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Reconstructs unified incident timeline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Identifies witness inconsistencies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Highlights critical gaps for cross-exam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011680"/>
            <a:ext cx="256032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18504" y="214884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</a:defRPr>
            </a:pPr>
            <a:r>
              <a:t>03</a:t>
            </a:r>
          </a:p>
          <a:p>
            <a:pPr>
              <a:defRPr sz="1700" b="1">
                <a:solidFill>
                  <a:srgbClr val="F8FAFC"/>
                </a:solidFill>
              </a:defRPr>
            </a:pPr>
            <a:r>
              <a:t>Judicial AI Hub</a:t>
            </a:r>
          </a:p>
          <a:p>
            <a:pPr>
              <a:spcAft>
                <a:spcPts val="1200"/>
              </a:spcAft>
              <a:defRPr sz="1000" b="1">
                <a:solidFill>
                  <a:srgbClr val="94A3B8"/>
                </a:solidFill>
              </a:defRPr>
            </a:pPr>
            <a:r>
              <a:t>Central Command Center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Real-time API connection diagnostics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Model parameter &amp; temperature tuning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Quick-action shortcuts for court staff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Role-gated access (Judge / Lawyer / Admin)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2011680"/>
            <a:ext cx="256032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43416" y="214884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04</a:t>
            </a:r>
          </a:p>
          <a:p>
            <a:pPr>
              <a:defRPr sz="1700" b="1">
                <a:solidFill>
                  <a:srgbClr val="F8FAFC"/>
                </a:solidFill>
              </a:defRPr>
            </a:pPr>
            <a:r>
              <a:t>Admissibility Proofs</a:t>
            </a:r>
          </a:p>
          <a:p>
            <a:pPr>
              <a:spcAft>
                <a:spcPts val="1200"/>
              </a:spcAft>
              <a:defRPr sz="1000" b="1">
                <a:solidFill>
                  <a:srgbClr val="94A3B8"/>
                </a:solidFill>
              </a:defRPr>
            </a:pPr>
            <a:r>
              <a:t>Tamper-Proof Certificate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Courtroom printable exhibit records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Embedded cryptographic SHA-256 seal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Chain-of-custody transfer logs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E2E8F0"/>
                </a:solidFill>
              </a:defRPr>
            </a:pPr>
            <a:r>
              <a:t>- Judicial verification sign-off ready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  <a:latin typeface="Trebuchet MS"/>
              </a:defRPr>
            </a:pPr>
            <a:r>
              <a:t>[  WHY GEMMA?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Georgia"/>
              </a:defRPr>
            </a:pPr>
            <a:r>
              <a:t>Why Google Gemma? The Judicial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Why Gemma is uniquely and fundamentally superior to proprietary black-box APIs for the legal 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257800" cy="196596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55F7"/>
                </a:solidFill>
              </a:defRPr>
            </a:pPr>
            <a:r>
              <a:t>PRIVACY &amp; COMPLIANCE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600" b="1">
                <a:solidFill>
                  <a:srgbClr val="F8FAFC"/>
                </a:solidFill>
              </a:defRPr>
            </a:pPr>
            <a:r>
              <a:t>Open Weights = Judicial Sovereignty</a:t>
            </a:r>
          </a:p>
          <a:p>
            <a:pPr>
              <a:lnSpc>
                <a:spcPct val="120000"/>
              </a:lnSpc>
              <a:defRPr sz="1200">
                <a:solidFill>
                  <a:srgbClr val="E2E8F0"/>
                </a:solidFill>
              </a:defRPr>
            </a:pPr>
            <a:r>
              <a:t>Courts cannot surrender sovereign legal data to commercial cloud vendors. Gemma enables on-premise government hosting with zero outside telemetry.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11680"/>
            <a:ext cx="5257800" cy="196596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219456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EDGE ACCESSIBILITY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600" b="1">
                <a:solidFill>
                  <a:srgbClr val="F8FAFC"/>
                </a:solidFill>
              </a:defRPr>
            </a:pPr>
            <a:r>
              <a:t>Compact &amp; Edge Deployable</a:t>
            </a:r>
          </a:p>
          <a:p>
            <a:pPr>
              <a:lnSpc>
                <a:spcPct val="120000"/>
              </a:lnSpc>
              <a:defRPr sz="1200">
                <a:solidFill>
                  <a:srgbClr val="E2E8F0"/>
                </a:solidFill>
              </a:defRPr>
            </a:pPr>
            <a:r>
              <a:t>From Gemma 3 1B to Gemma 2 9B/27B, the architecture runs fast on courthouse workstations, police laptops, or local secure servers without multi-million dollar GPU clusters.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5257800" cy="196596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43434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REASONING FIDELITY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600" b="1">
                <a:solidFill>
                  <a:srgbClr val="F8FAFC"/>
                </a:solidFill>
              </a:defRPr>
            </a:pPr>
            <a:r>
              <a:t>Rigorous Structured Output</a:t>
            </a:r>
          </a:p>
          <a:p>
            <a:pPr>
              <a:lnSpc>
                <a:spcPct val="120000"/>
              </a:lnSpc>
              <a:defRPr sz="1200">
                <a:solidFill>
                  <a:srgbClr val="E2E8F0"/>
                </a:solidFill>
              </a:defRPr>
            </a:pPr>
            <a:r>
              <a:t>Exceptional adherence to JSON schemas and legal taxonomies, eliminating hallucinations when extracting dates, coordinates, and chain-of-custody discrepancies.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160520"/>
            <a:ext cx="5257800" cy="196596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3434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EQUAL ACCESS TO JUSTICE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600" b="1">
                <a:solidFill>
                  <a:srgbClr val="F8FAFC"/>
                </a:solidFill>
              </a:defRPr>
            </a:pPr>
            <a:r>
              <a:t>90% Cost Reduction vs Big Cloud</a:t>
            </a:r>
          </a:p>
          <a:p>
            <a:pPr>
              <a:lnSpc>
                <a:spcPct val="120000"/>
              </a:lnSpc>
              <a:defRPr sz="1200">
                <a:solidFill>
                  <a:srgbClr val="E2E8F0"/>
                </a:solidFill>
              </a:defRPr>
            </a:pPr>
            <a:r>
              <a:t>Public defense funds and developing nation judiciaries cannot pay $0.03 per prompt to monopolistic APIs. Gemma delivers sovereign AI at negligible cost.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  <a:latin typeface="Trebuchet MS"/>
              </a:defRPr>
            </a:pPr>
            <a:r>
              <a:t>[  HOW IT WORKS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Georgia"/>
              </a:defRPr>
            </a:pPr>
            <a:r>
              <a:t>End-to-End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From citizen witness or police bodycam to courtroom-admissible, AI-briefed case docket.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6032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STEP 1</a:t>
            </a:r>
          </a:p>
          <a:p>
            <a:pPr>
              <a:defRPr sz="1800" b="1">
                <a:solidFill>
                  <a:srgbClr val="F8FAFC"/>
                </a:solidFill>
              </a:defRPr>
            </a:pPr>
            <a:r>
              <a:t>Secure Capture</a:t>
            </a:r>
          </a:p>
          <a:p>
            <a:pPr>
              <a:spcAft>
                <a:spcPts val="1400"/>
              </a:spcAft>
              <a:defRPr sz="1000" b="1">
                <a:solidFill>
                  <a:srgbClr val="94A3B8"/>
                </a:solidFill>
              </a:defRPr>
            </a:pPr>
            <a:r>
              <a:t>Web &amp; Capacitor Mobile</a:t>
            </a:r>
          </a:p>
          <a:p>
            <a:pPr>
              <a:lnSpc>
                <a:spcPct val="130000"/>
              </a:lnSpc>
              <a:defRPr sz="1200">
                <a:solidFill>
                  <a:srgbClr val="E2E8F0"/>
                </a:solidFill>
              </a:defRPr>
            </a:pPr>
            <a:r>
              <a:t>Witness or officer uploads media. System extracts EXIF, GPS, altitude, device model, and computes SHA-256 hash immediately.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2011680"/>
            <a:ext cx="256032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93592" y="214884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</a:defRPr>
            </a:pPr>
            <a:r>
              <a:t>STEP 2</a:t>
            </a:r>
          </a:p>
          <a:p>
            <a:pPr>
              <a:defRPr sz="1800" b="1">
                <a:solidFill>
                  <a:srgbClr val="F8FAFC"/>
                </a:solidFill>
              </a:defRPr>
            </a:pPr>
            <a:r>
              <a:t>Vault Sealing</a:t>
            </a:r>
          </a:p>
          <a:p>
            <a:pPr>
              <a:spcAft>
                <a:spcPts val="1400"/>
              </a:spcAft>
              <a:defRPr sz="1000" b="1">
                <a:solidFill>
                  <a:srgbClr val="94A3B8"/>
                </a:solidFill>
              </a:defRPr>
            </a:pPr>
            <a:r>
              <a:t>Laravel 11 &amp; MySQL/SQLite</a:t>
            </a:r>
          </a:p>
          <a:p>
            <a:pPr>
              <a:lnSpc>
                <a:spcPct val="130000"/>
              </a:lnSpc>
              <a:defRPr sz="1200">
                <a:solidFill>
                  <a:srgbClr val="E2E8F0"/>
                </a:solidFill>
              </a:defRPr>
            </a:pPr>
            <a:r>
              <a:t>File is stored in isolated tamper-evident vault. Metadata and hash are locked with timestamped chain-of-custody audit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011680"/>
            <a:ext cx="256032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18504" y="214884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STEP 3</a:t>
            </a:r>
          </a:p>
          <a:p>
            <a:pPr>
              <a:defRPr sz="1800" b="1">
                <a:solidFill>
                  <a:srgbClr val="F8FAFC"/>
                </a:solidFill>
              </a:defRPr>
            </a:pPr>
            <a:r>
              <a:t>Gemma AI Engine</a:t>
            </a:r>
          </a:p>
          <a:p>
            <a:pPr>
              <a:spcAft>
                <a:spcPts val="1400"/>
              </a:spcAft>
              <a:defRPr sz="1000" b="1">
                <a:solidFill>
                  <a:srgbClr val="94A3B8"/>
                </a:solidFill>
              </a:defRPr>
            </a:pPr>
            <a:r>
              <a:t>Google AI Studio / Gemma 3</a:t>
            </a:r>
          </a:p>
          <a:p>
            <a:pPr>
              <a:lnSpc>
                <a:spcPct val="130000"/>
              </a:lnSpc>
              <a:defRPr sz="1200">
                <a:solidFill>
                  <a:srgbClr val="E2E8F0"/>
                </a:solidFill>
              </a:defRPr>
            </a:pPr>
            <a:r>
              <a:t>Gemma analyzes metadata, validates incident timelines, inspects integrity flags, and produces forensic legal evaluations.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2011680"/>
            <a:ext cx="256032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43416" y="214884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STEP 4</a:t>
            </a:r>
          </a:p>
          <a:p>
            <a:pPr>
              <a:defRPr sz="1800" b="1">
                <a:solidFill>
                  <a:srgbClr val="F8FAFC"/>
                </a:solidFill>
              </a:defRPr>
            </a:pPr>
            <a:r>
              <a:t>Judicial Decision</a:t>
            </a:r>
          </a:p>
          <a:p>
            <a:pPr>
              <a:spcAft>
                <a:spcPts val="1400"/>
              </a:spcAft>
              <a:defRPr sz="1000" b="1">
                <a:solidFill>
                  <a:srgbClr val="94A3B8"/>
                </a:solidFill>
              </a:defRPr>
            </a:pPr>
            <a:r>
              <a:t>Judge &amp; Lawyer Dashboard</a:t>
            </a:r>
          </a:p>
          <a:p>
            <a:pPr>
              <a:lnSpc>
                <a:spcPct val="130000"/>
              </a:lnSpc>
              <a:defRPr sz="1200">
                <a:solidFill>
                  <a:srgbClr val="E2E8F0"/>
                </a:solidFill>
              </a:defRPr>
            </a:pPr>
            <a:r>
              <a:t>Lawyers bundle evidence into Case Dockets. Judges review Gemma-generated executive briefs and examine verified exhibits.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  <a:latin typeface="Trebuchet MS"/>
              </a:defRPr>
            </a:pPr>
            <a:r>
              <a:t>[  REAL-WORLD IMPACT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Georgia"/>
              </a:defRPr>
            </a:pPr>
            <a:r>
              <a:t>Live Case Walkthrough: Robbery Investigation #EWV-2026-0014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5975" y="1587137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rPr dirty="0"/>
              <a:t>Demonstrating Gemma's forensic analysis on multi-exhibit criminal court docket.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21208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EVIDENTIARY EXHIBITS INGESTED</a:t>
            </a:r>
          </a:p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</a:defRPr>
            </a:pPr>
            <a:r>
              <a:t>Case Docket #EWV-2026-0014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Exhibit #001: CCTV Footage (Timestamp: 23:14:02 UTC | SHA: e8b9...f2)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Exhibit #002: Eyewitness Mobile Photo (GPS: 0.3476N, 32.5825E | 23:16:10)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Exhibit #003: Ballistic Match Ballistics Report (.pdf)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Exhibit #004: Witness Statement Audio (.m4a)</a:t>
            </a:r>
          </a:p>
          <a:p>
            <a:pPr>
              <a:spcBef>
                <a:spcPts val="1400"/>
              </a:spcBef>
              <a:defRPr sz="1100" i="1">
                <a:solidFill>
                  <a:srgbClr val="06B6D4"/>
                </a:solidFill>
              </a:defRPr>
            </a:pPr>
            <a:r>
              <a:t>All exhibits sealed with cryptographic hashes &amp; device audit trails.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2011680"/>
            <a:ext cx="521208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6695" y="21488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GEMMA AI SYNTHESIS OUTPUT</a:t>
            </a:r>
          </a:p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</a:defRPr>
            </a:pPr>
            <a:r>
              <a:t>Judicial Briefing in 1.4 Seconds</a:t>
            </a:r>
          </a:p>
          <a:p>
            <a:pPr>
              <a:spcBef>
                <a:spcPts val="500"/>
              </a:spcBef>
              <a:defRPr sz="1200" b="1">
                <a:solidFill>
                  <a:srgbClr val="A855F7"/>
                </a:solidFill>
              </a:defRPr>
            </a:pPr>
            <a:r>
              <a:t>- Timeline Alignment: </a:t>
            </a:r>
            <a:r>
              <a:rPr b="0">
                <a:solidFill>
                  <a:srgbClr val="E2E8F0"/>
                </a:solidFill>
              </a:rPr>
              <a:t>Synchronized 4 exhibits to establish a 4-minute incident timeline between 23:13 and 23:17.</a:t>
            </a:r>
          </a:p>
          <a:p>
            <a:pPr>
              <a:spcBef>
                <a:spcPts val="500"/>
              </a:spcBef>
              <a:defRPr sz="1200" b="1">
                <a:solidFill>
                  <a:srgbClr val="A855F7"/>
                </a:solidFill>
              </a:defRPr>
            </a:pPr>
            <a:r>
              <a:t>- Critical Contradiction Detected: </a:t>
            </a:r>
            <a:r>
              <a:rPr b="0">
                <a:solidFill>
                  <a:srgbClr val="E2E8F0"/>
                </a:solidFill>
              </a:rPr>
              <a:t>Exhibit #002 GPS coordinates place witness 1.2km away from Exhibit #001 CCTV location!</a:t>
            </a:r>
          </a:p>
          <a:p>
            <a:pPr>
              <a:spcBef>
                <a:spcPts val="500"/>
              </a:spcBef>
              <a:defRPr sz="1200" b="1">
                <a:solidFill>
                  <a:srgbClr val="A855F7"/>
                </a:solidFill>
              </a:defRPr>
            </a:pPr>
            <a:r>
              <a:t>- Admissibility Score: 94/100: </a:t>
            </a:r>
            <a:r>
              <a:rPr b="0">
                <a:solidFill>
                  <a:srgbClr val="E2E8F0"/>
                </a:solidFill>
              </a:rPr>
              <a:t>Chain of custody unbroken; all cryptographic hashes match raw source.</a:t>
            </a:r>
          </a:p>
          <a:p>
            <a:pPr>
              <a:spcBef>
                <a:spcPts val="500"/>
              </a:spcBef>
              <a:defRPr sz="1200" b="1">
                <a:solidFill>
                  <a:srgbClr val="A855F7"/>
                </a:solidFill>
              </a:defRPr>
            </a:pPr>
            <a:r>
              <a:t>- Prosecution Question: </a:t>
            </a:r>
            <a:r>
              <a:rPr b="0">
                <a:solidFill>
                  <a:srgbClr val="E2E8F0"/>
                </a:solidFill>
              </a:rPr>
              <a:t>Ask witness why metadata timestamp precedes CCTV vehicle arrival.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  <a:latin typeface="Trebuchet MS"/>
              </a:defRPr>
            </a:pPr>
            <a:r>
              <a:t>[  COMPETITIVE LANDSCAPE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Georgia"/>
              </a:defRPr>
            </a:pPr>
            <a:r>
              <a:t>Competitive Moat: Why eWitnessVault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Comparing eWitnessVault with traditional LegalTech software and generic AI tools.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103120"/>
          <a:ext cx="1072865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90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8FAFC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1A26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</a:defRPr>
                      </a:pPr>
                      <a:r>
                        <a:t>eWitnessVault (Gemma)</a:t>
                      </a:r>
                    </a:p>
                  </a:txBody>
                  <a:tcPr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</a:defRPr>
                      </a:pPr>
                      <a:r>
                        <a:t>Traditional LegalTech</a:t>
                      </a:r>
                    </a:p>
                  </a:txBody>
                  <a:tcPr>
                    <a:solidFill>
                      <a:srgbClr val="1A26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</a:defRPr>
                      </a:pPr>
                      <a:r>
                        <a:t>Generic AI (ChatGPT/Claude)</a:t>
                      </a:r>
                    </a:p>
                  </a:txBody>
                  <a:tcPr>
                    <a:solidFill>
                      <a:srgbClr val="1A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t>Cryptographic Tamper-Proof Sealing</a:t>
                      </a:r>
                    </a:p>
                  </a:txBody>
                  <a:tcPr>
                    <a:solidFill>
                      <a:srgbClr val="131D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59E0B"/>
                          </a:solidFill>
                        </a:defRPr>
                      </a:pPr>
                      <a:r>
                        <a:t>YES (SHA-256 + EXIF)</a:t>
                      </a:r>
                    </a:p>
                  </a:txBody>
                  <a:tcPr>
                    <a:solidFill>
                      <a:srgbClr val="1E14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94A3B8"/>
                          </a:solidFill>
                        </a:defRPr>
                      </a:pPr>
                      <a:r>
                        <a:t>NO (Standard file storage)</a:t>
                      </a:r>
                    </a:p>
                  </a:txBody>
                  <a:tcPr>
                    <a:solidFill>
                      <a:srgbClr val="131D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94A3B8"/>
                          </a:solidFill>
                        </a:defRPr>
                      </a:pPr>
                      <a:r>
                        <a:t>NO (Zero file provenance)</a:t>
                      </a:r>
                    </a:p>
                  </a:txBody>
                  <a:tcPr>
                    <a:solidFill>
                      <a:srgbClr val="131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t>Private Sovereign AI Reasoning</a:t>
                      </a:r>
                    </a:p>
                  </a:txBody>
                  <a:tcPr>
                    <a:solidFill>
                      <a:srgbClr val="131D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59E0B"/>
                          </a:solidFill>
                        </a:defRPr>
                      </a:pPr>
                      <a:r>
                        <a:t>YES (Google Gemma Open)</a:t>
                      </a:r>
                    </a:p>
                  </a:txBody>
                  <a:tcPr>
                    <a:solidFill>
                      <a:srgbClr val="1E14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94A3B8"/>
                          </a:solidFill>
                        </a:defRPr>
                      </a:pPr>
                      <a:r>
                        <a:t>NO (No AI capabilities)</a:t>
                      </a:r>
                    </a:p>
                  </a:txBody>
                  <a:tcPr>
                    <a:solidFill>
                      <a:srgbClr val="131D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94A3B8"/>
                          </a:solidFill>
                        </a:defRPr>
                      </a:pPr>
                      <a:r>
                        <a:t>NO (Data sent to US multi-tenant)</a:t>
                      </a:r>
                    </a:p>
                  </a:txBody>
                  <a:tcPr>
                    <a:solidFill>
                      <a:srgbClr val="131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t>Courtroom Exhibit Dockets</a:t>
                      </a:r>
                    </a:p>
                  </a:txBody>
                  <a:tcPr>
                    <a:solidFill>
                      <a:srgbClr val="131D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59E0B"/>
                          </a:solidFill>
                        </a:defRPr>
                      </a:pPr>
                      <a:r>
                        <a:t>YES (Admissible certificates)</a:t>
                      </a:r>
                    </a:p>
                  </a:txBody>
                  <a:tcPr>
                    <a:solidFill>
                      <a:srgbClr val="1E14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94A3B8"/>
                          </a:solidFill>
                        </a:defRPr>
                      </a:pPr>
                      <a:r>
                        <a:t>Partial (Clunky PDF exports)</a:t>
                      </a:r>
                    </a:p>
                  </a:txBody>
                  <a:tcPr>
                    <a:solidFill>
                      <a:srgbClr val="131D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94A3B8"/>
                          </a:solidFill>
                        </a:defRPr>
                      </a:pPr>
                      <a:r>
                        <a:t>NO (Unformatted text responses)</a:t>
                      </a:r>
                    </a:p>
                  </a:txBody>
                  <a:tcPr>
                    <a:solidFill>
                      <a:srgbClr val="131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t>Hardware / Edge Deployment Ready</a:t>
                      </a:r>
                    </a:p>
                  </a:txBody>
                  <a:tcPr>
                    <a:solidFill>
                      <a:srgbClr val="131D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59E0B"/>
                          </a:solidFill>
                        </a:defRPr>
                      </a:pPr>
                      <a:r>
                        <a:t>YES (Gemma 3 1B/4B/12B)</a:t>
                      </a:r>
                    </a:p>
                  </a:txBody>
                  <a:tcPr>
                    <a:solidFill>
                      <a:srgbClr val="1E14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94A3B8"/>
                          </a:solidFill>
                        </a:defRPr>
                      </a:pPr>
                      <a:r>
                        <a:t>NO (Legacy on-prem monoliths)</a:t>
                      </a:r>
                    </a:p>
                  </a:txBody>
                  <a:tcPr>
                    <a:solidFill>
                      <a:srgbClr val="131D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94A3B8"/>
                          </a:solidFill>
                        </a:defRPr>
                      </a:pPr>
                      <a:r>
                        <a:t>NO (Cloud API connection only)</a:t>
                      </a:r>
                    </a:p>
                  </a:txBody>
                  <a:tcPr>
                    <a:solidFill>
                      <a:srgbClr val="131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  <a:latin typeface="Trebuchet MS"/>
              </a:defRPr>
            </a:pPr>
            <a:r>
              <a:t>[  COMMERCIAL VIABILITY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Georgia"/>
              </a:defRPr>
            </a:pPr>
            <a:r>
              <a:t>Market Opportunity &amp;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Capturing high-margin GovTech &amp; LegalTech segments with scalable sovereign deployments.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42900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3063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6B6D4"/>
                </a:solidFill>
              </a:defRPr>
            </a:pPr>
            <a:r>
              <a:t>$35B+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GLOBAL LEGALTECH MARKET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1800" b="1">
                <a:solidFill>
                  <a:srgbClr val="F8FAFC"/>
                </a:solidFill>
              </a:defRPr>
            </a:pPr>
            <a:r>
              <a:t>Market Scale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</a:defRPr>
            </a:pPr>
            <a:r>
              <a:t>- Judiciaries, law firms, and court clerks worldwide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</a:defRPr>
            </a:pPr>
            <a:r>
              <a:t>- Accelerated by digital court modernization mandates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</a:defRPr>
            </a:pPr>
            <a:r>
              <a:t>- Expanding in emerging markets with severe court backlog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2011680"/>
            <a:ext cx="342900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53712" y="2148840"/>
            <a:ext cx="3063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9E0B"/>
                </a:solidFill>
              </a:defRPr>
            </a:pPr>
            <a:r>
              <a:t>3-Tier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ENTERPRISE MONETIZATION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1800" b="1">
                <a:solidFill>
                  <a:srgbClr val="F8FAFC"/>
                </a:solidFill>
              </a:defRPr>
            </a:pPr>
            <a:r>
              <a:t>Revenue Model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</a:defRPr>
            </a:pPr>
            <a:r>
              <a:t>- SaaS Subscription: Tiered per legal seat/lawyer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</a:defRPr>
            </a:pPr>
            <a:r>
              <a:t>- Sovereign Node License: On-prem Gemma for Judiciaries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</a:defRPr>
            </a:pPr>
            <a:r>
              <a:t>- High-Volume Case API: Forensic evidence hashing &amp; AI briefs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2011680"/>
            <a:ext cx="342900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93023" y="2148840"/>
            <a:ext cx="3063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B981"/>
                </a:solidFill>
              </a:defRPr>
            </a:pPr>
            <a:r>
              <a:t>75%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TRIAL PREP TIME SAVINGS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1800" b="1">
                <a:solidFill>
                  <a:srgbClr val="F8FAFC"/>
                </a:solidFill>
              </a:defRPr>
            </a:pPr>
            <a:r>
              <a:t>ROI for Clients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</a:defRPr>
            </a:pPr>
            <a:r>
              <a:t>- Reduces evidence review time from weeks to hours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</a:defRPr>
            </a:pPr>
            <a:r>
              <a:t>- Eliminates chain-of-custody evidentiary mistrials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</a:defRPr>
            </a:pPr>
            <a:r>
              <a:t>- Enables public defenders to represent 3x more clients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  <a:latin typeface="Trebuchet MS"/>
              </a:defRPr>
            </a:pPr>
            <a:r>
              <a:t>[  FUTURE VISION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Georgia"/>
              </a:defRPr>
            </a:pPr>
            <a:r>
              <a:t>Strategic Roadmap: Building the Sovereign Judicial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Scaling from today's hackathon prototype to nationwide legal infrastructure.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6032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PHASE 1 (NOW)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Q2 2026</a:t>
            </a:r>
          </a:p>
          <a:p>
            <a:pPr>
              <a:spcBef>
                <a:spcPts val="800"/>
              </a:spcBef>
              <a:spcAft>
                <a:spcPts val="1000"/>
              </a:spcAft>
              <a:defRPr sz="1700" b="1">
                <a:solidFill>
                  <a:srgbClr val="F8FAFC"/>
                </a:solidFill>
              </a:defRPr>
            </a:pPr>
            <a:r>
              <a:t>Gemma AI Suite</a:t>
            </a:r>
          </a:p>
          <a:p>
            <a:pPr>
              <a:lnSpc>
                <a:spcPct val="130000"/>
              </a:lnSpc>
              <a:defRPr sz="1200">
                <a:solidFill>
                  <a:srgbClr val="E2E8F0"/>
                </a:solidFill>
              </a:defRPr>
            </a:pPr>
            <a:r>
              <a:t>Live evidence analysis, automated case docket briefs, cryptographic SHA-256 vault sealing, and role-based access control.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2011680"/>
            <a:ext cx="256032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93592" y="214884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PHASE 2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Q3 2026</a:t>
            </a:r>
          </a:p>
          <a:p>
            <a:pPr>
              <a:spcBef>
                <a:spcPts val="800"/>
              </a:spcBef>
              <a:spcAft>
                <a:spcPts val="1000"/>
              </a:spcAft>
              <a:defRPr sz="1700" b="1">
                <a:solidFill>
                  <a:srgbClr val="F8FAFC"/>
                </a:solidFill>
              </a:defRPr>
            </a:pPr>
            <a:r>
              <a:t>Multimodal Gemma 3 Vision</a:t>
            </a:r>
          </a:p>
          <a:p>
            <a:pPr>
              <a:lnSpc>
                <a:spcPct val="130000"/>
              </a:lnSpc>
              <a:defRPr sz="1200">
                <a:solidFill>
                  <a:srgbClr val="E2E8F0"/>
                </a:solidFill>
              </a:defRPr>
            </a:pPr>
            <a:r>
              <a:t>Direct frame-by-frame deepfake analysis, audio voiceprint forensics, and automated video transcript alignment.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011680"/>
            <a:ext cx="256032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18504" y="214884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PHASE 3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Q4 2026</a:t>
            </a:r>
          </a:p>
          <a:p>
            <a:pPr>
              <a:spcBef>
                <a:spcPts val="800"/>
              </a:spcBef>
              <a:spcAft>
                <a:spcPts val="1000"/>
              </a:spcAft>
              <a:defRPr sz="1700" b="1">
                <a:solidFill>
                  <a:srgbClr val="F8FAFC"/>
                </a:solidFill>
              </a:defRPr>
            </a:pPr>
            <a:r>
              <a:t>Courthouse Edge Nodes</a:t>
            </a:r>
          </a:p>
          <a:p>
            <a:pPr>
              <a:lnSpc>
                <a:spcPct val="130000"/>
              </a:lnSpc>
              <a:defRPr sz="1200">
                <a:solidFill>
                  <a:srgbClr val="E2E8F0"/>
                </a:solidFill>
              </a:defRPr>
            </a:pPr>
            <a:r>
              <a:t>Pre-configured air-gapped Gemma appliances for confidential supreme courts and military tribunals.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2011680"/>
            <a:ext cx="2560320" cy="42062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43416" y="214884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PHASE 4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2027+</a:t>
            </a:r>
          </a:p>
          <a:p>
            <a:pPr>
              <a:spcBef>
                <a:spcPts val="800"/>
              </a:spcBef>
              <a:spcAft>
                <a:spcPts val="1000"/>
              </a:spcAft>
              <a:defRPr sz="1700" b="1">
                <a:solidFill>
                  <a:srgbClr val="F8FAFC"/>
                </a:solidFill>
              </a:defRPr>
            </a:pPr>
            <a:r>
              <a:t>Global Justice Network</a:t>
            </a:r>
          </a:p>
          <a:p>
            <a:pPr>
              <a:lnSpc>
                <a:spcPct val="130000"/>
              </a:lnSpc>
              <a:defRPr sz="1200">
                <a:solidFill>
                  <a:srgbClr val="E2E8F0"/>
                </a:solidFill>
              </a:defRPr>
            </a:pPr>
            <a:r>
              <a:t>Inter-agency cross-jurisdiction evidence verification for international human rights tribunals and interpol dockets.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  <a:latin typeface="Trebuchet MS"/>
              </a:defRPr>
            </a:pPr>
            <a:r>
              <a:t>[  JUDGING CRITERIA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Georgia"/>
              </a:defRPr>
            </a:pPr>
            <a:r>
              <a:t>Why eWitnessVault Wins the Gemma Hackafest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Evaluating eWitnessVault across all hackathon evaluation pillars.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257800" cy="196596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INNOVATION &amp; IMPACT</a:t>
            </a:r>
          </a:p>
          <a:p>
            <a:pPr>
              <a:spcBef>
                <a:spcPts val="300"/>
              </a:spcBef>
              <a:spcAft>
                <a:spcPts val="400"/>
              </a:spcAft>
              <a:defRPr sz="1700" b="1">
                <a:solidFill>
                  <a:srgbClr val="F8FAFC"/>
                </a:solidFill>
              </a:defRPr>
            </a:pPr>
            <a:r>
              <a:t>Solves a Real Humanitarian Need</a:t>
            </a:r>
          </a:p>
          <a:p>
            <a:pPr>
              <a:lnSpc>
                <a:spcPct val="125000"/>
              </a:lnSpc>
              <a:defRPr sz="1200">
                <a:solidFill>
                  <a:srgbClr val="E2E8F0"/>
                </a:solidFill>
              </a:defRPr>
            </a:pPr>
            <a:r>
              <a:t>Not just another chat toy. Solves court backlogs and false convictions with cryptographic certainty and ethical, sovereign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11680"/>
            <a:ext cx="5257800" cy="196596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219456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55F7"/>
                </a:solidFill>
              </a:defRPr>
            </a:pPr>
            <a:r>
              <a:t>TECHNICAL EXECUTION</a:t>
            </a:r>
          </a:p>
          <a:p>
            <a:pPr>
              <a:spcBef>
                <a:spcPts val="300"/>
              </a:spcBef>
              <a:spcAft>
                <a:spcPts val="400"/>
              </a:spcAft>
              <a:defRPr sz="1700" b="1">
                <a:solidFill>
                  <a:srgbClr val="F8FAFC"/>
                </a:solidFill>
              </a:defRPr>
            </a:pPr>
            <a:r>
              <a:t>Full Production Full-Stack App</a:t>
            </a:r>
          </a:p>
          <a:p>
            <a:pPr>
              <a:lnSpc>
                <a:spcPct val="125000"/>
              </a:lnSpc>
              <a:defRPr sz="1200">
                <a:solidFill>
                  <a:srgbClr val="E2E8F0"/>
                </a:solidFill>
              </a:defRPr>
            </a:pPr>
            <a:r>
              <a:t>Laravel 11 backend, reactive Blade UI, REST API, MySQL/SQLite database schema, custom GemmaService, and verified routes.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5257800" cy="196596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43434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DEEP GEMMA UTILIZATION</a:t>
            </a:r>
          </a:p>
          <a:p>
            <a:pPr>
              <a:spcBef>
                <a:spcPts val="300"/>
              </a:spcBef>
              <a:spcAft>
                <a:spcPts val="400"/>
              </a:spcAft>
              <a:defRPr sz="1700" b="1">
                <a:solidFill>
                  <a:srgbClr val="F8FAFC"/>
                </a:solidFill>
              </a:defRPr>
            </a:pPr>
            <a:r>
              <a:t>Leverages Gemma's Core DNA</a:t>
            </a:r>
          </a:p>
          <a:p>
            <a:pPr>
              <a:lnSpc>
                <a:spcPct val="125000"/>
              </a:lnSpc>
              <a:defRPr sz="1200">
                <a:solidFill>
                  <a:srgbClr val="E2E8F0"/>
                </a:solidFill>
              </a:defRPr>
            </a:pPr>
            <a:r>
              <a:t>Capitalizes on Gemma's open weights, privacy sovereignty, structured outputs, and lightweight edge footprint for judicial compliance.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160520"/>
            <a:ext cx="5257800" cy="196596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3434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POLISH &amp; COMPLETENESS</a:t>
            </a:r>
          </a:p>
          <a:p>
            <a:pPr>
              <a:spcBef>
                <a:spcPts val="300"/>
              </a:spcBef>
              <a:spcAft>
                <a:spcPts val="400"/>
              </a:spcAft>
              <a:defRPr sz="1700" b="1">
                <a:solidFill>
                  <a:srgbClr val="F8FAFC"/>
                </a:solidFill>
              </a:defRPr>
            </a:pPr>
            <a:r>
              <a:t>Live, Working &amp; Deployed</a:t>
            </a:r>
          </a:p>
          <a:p>
            <a:pPr>
              <a:lnSpc>
                <a:spcPct val="125000"/>
              </a:lnSpc>
              <a:defRPr sz="1200">
                <a:solidFill>
                  <a:srgbClr val="E2E8F0"/>
                </a:solidFill>
              </a:defRPr>
            </a:pPr>
            <a:r>
              <a:t>Real git commit history, comprehensive views, navigation integration, and active repository at github.com/gilbertinkamanyire/Hackafest-.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31D31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45920" y="1371600"/>
            <a:ext cx="88998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  <a:latin typeface="Trebuchet MS"/>
              </a:defRPr>
            </a:pPr>
            <a:r>
              <a:t>SEALING TRUTH. ACCELERATING JUSTICE.</a:t>
            </a:r>
          </a:p>
          <a:p>
            <a:pPr>
              <a:spcBef>
                <a:spcPts val="1000"/>
              </a:spcBef>
              <a:defRPr sz="3800" b="1">
                <a:solidFill>
                  <a:srgbClr val="F59E0B"/>
                </a:solidFill>
                <a:latin typeface="Georgia"/>
              </a:defRPr>
            </a:pPr>
            <a:r>
              <a:t>Experience the Future of Evidentiary AI</a:t>
            </a:r>
          </a:p>
          <a:p>
            <a:pPr>
              <a:spcBef>
                <a:spcPts val="1400"/>
              </a:spcBef>
              <a:spcAft>
                <a:spcPts val="2000"/>
              </a:spcAft>
              <a:defRPr sz="1600">
                <a:solidFill>
                  <a:srgbClr val="F8FAFC"/>
                </a:solidFill>
                <a:latin typeface="Calibri"/>
              </a:defRPr>
            </a:pPr>
            <a:r>
              <a:t>eWitnessVault is ready for courtroom trials, legal defense teams, and human rights missions worldwide.</a:t>
            </a:r>
          </a:p>
          <a:p>
            <a:pPr>
              <a:defRPr sz="1500" b="1">
                <a:solidFill>
                  <a:srgbClr val="06B6D4"/>
                </a:solidFill>
                <a:latin typeface="Calibri"/>
              </a:defRPr>
            </a:pPr>
            <a:r>
              <a:t>Repository: https://github.com/gilbertinkamanyire/Hackafest-</a:t>
            </a:r>
          </a:p>
          <a:p>
            <a:pPr>
              <a:spcBef>
                <a:spcPts val="600"/>
              </a:spcBef>
              <a:defRPr sz="1400">
                <a:solidFill>
                  <a:srgbClr val="94A3B8"/>
                </a:solidFill>
                <a:latin typeface="Calibri"/>
              </a:defRPr>
            </a:pPr>
            <a:r>
              <a:t>Lead Developer: Gilbert Inkamanyire | eWitnessVault Core Team</a:t>
            </a:r>
          </a:p>
          <a:p>
            <a:pPr>
              <a:spcBef>
                <a:spcPts val="1600"/>
              </a:spcBef>
              <a:defRPr sz="1600" b="1">
                <a:solidFill>
                  <a:srgbClr val="10B981"/>
                </a:solidFill>
                <a:latin typeface="Trebuchet MS"/>
              </a:defRPr>
            </a:pPr>
            <a:r>
              <a:t>Thank you Judges &amp; Google Gemma Team! We are ready for Q&amp;A.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1515</Words>
  <Application>Microsoft Office PowerPoint</Application>
  <PresentationFormat>Widescreen</PresentationFormat>
  <Paragraphs>198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Tinkamanyire Gilbert</cp:lastModifiedBy>
  <cp:revision>2</cp:revision>
  <dcterms:created xsi:type="dcterms:W3CDTF">2013-01-27T09:14:16Z</dcterms:created>
  <dcterms:modified xsi:type="dcterms:W3CDTF">2026-10-16T13:13:16Z</dcterms:modified>
  <cp:category/>
</cp:coreProperties>
</file>