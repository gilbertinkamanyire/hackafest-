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GEMMA HACKAFEST 2026  |  LEGAL &amp; FORENSIC TRACK</a:t>
            </a:r>
          </a:p>
          <a:p>
            <a:pPr>
              <a:spcBef>
                <a:spcPts val="1000"/>
              </a:spcBef>
              <a:defRPr sz="5400" b="1">
                <a:solidFill>
                  <a:srgbClr val="F59E0B"/>
                </a:solidFill>
                <a:latin typeface="Georgia"/>
              </a:defRPr>
            </a:pPr>
            <a:r>
              <a:t>eWitnessVault</a:t>
            </a:r>
          </a:p>
          <a:p>
            <a:pPr>
              <a:spcBef>
                <a:spcPts val="1200"/>
              </a:spcBef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Tamper-Proof Evidence Vault &amp; Judicial AI Intelligence</a:t>
            </a:r>
          </a:p>
          <a:p>
            <a:pPr>
              <a:spcBef>
                <a:spcPts val="800"/>
              </a:spcBef>
              <a:defRPr sz="1600">
                <a:solidFill>
                  <a:srgbClr val="06B6D4"/>
                </a:solidFill>
                <a:latin typeface="Calibri"/>
              </a:defRPr>
            </a:pPr>
            <a:r>
              <a:t>Powered by Google Gemma 3 &amp; Gemma 2 for Private, Sovereign Legal Reasoning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59612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Calibri"/>
              </a:defRPr>
            </a:pPr>
            <a:r>
              <a:t>Presenter: Gilbert Inkamanyire  |  Project: eWitnessVault  |  GitHub: gilbertinkamanyire/Hackafest-  |  Live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THE PROBLEM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The Crisis in Modern Evidentiary &amp; Courtroom Justice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Digital evidence is expanding exponentially, but the judicial system is breaking under friction and mistrust.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F4444"/>
                </a:solidFill>
                <a:latin typeface="Trebuchet MS"/>
              </a:defRPr>
            </a:pPr>
            <a:r>
              <a:t>100M+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GLOBAL CASE 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Crippling Judicial Delays</a:t>
            </a:r>
          </a:p>
          <a:p>
            <a:pPr>
              <a:lnSpc>
                <a:spcPct val="125000"/>
              </a:lnSpc>
              <a:defRPr sz="1300">
                <a:solidFill>
                  <a:srgbClr val="E2E8F0"/>
                </a:solidFill>
              </a:defRPr>
            </a:pPr>
            <a:r>
              <a:t>Courts and public defenders face months of manual evidence inspection, drowning in unorganized files, surveillance videos, and scattered witness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194560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9E0B"/>
                </a:solidFill>
                <a:latin typeface="Trebuchet MS"/>
              </a:defRPr>
            </a:pPr>
            <a:r>
              <a:t>35%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EVIDENCE CHALLENGED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20040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Tampering &amp; Custody Gaps</a:t>
            </a:r>
          </a:p>
          <a:p>
            <a:pPr>
              <a:lnSpc>
                <a:spcPct val="125000"/>
              </a:lnSpc>
              <a:defRPr sz="1300">
                <a:solidFill>
                  <a:srgbClr val="E2E8F0"/>
                </a:solidFill>
              </a:defRPr>
            </a:pPr>
            <a:r>
              <a:t>Evidence routinely dismissed due to missing EXIF metadata, unverified capture chains, and inability to prove media hasn't been altered or fabricated with generative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2194560"/>
            <a:ext cx="3063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  <a:latin typeface="Trebuchet MS"/>
              </a:defRPr>
            </a:pPr>
            <a:r>
              <a:t>0%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ZERO PUBLIC AI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320040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Confidentiality Redlines</a:t>
            </a:r>
          </a:p>
          <a:p>
            <a:pPr>
              <a:lnSpc>
                <a:spcPct val="125000"/>
              </a:lnSpc>
              <a:defRPr sz="1300">
                <a:solidFill>
                  <a:srgbClr val="E2E8F0"/>
                </a:solidFill>
              </a:defRPr>
            </a:pPr>
            <a:r>
              <a:t>Courts and law enforcement CANNOT paste witness testimony into public cloud AI APIs without breaching chain-of-custody laws and endangering witness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THE INNOVATION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The Solution: Cryptographic Vault Meets Sovereign Gemma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eWitnessVault unifies immutable digital evidence sealing with Google Gemma's open-weights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PILLAR 1: Cryptographic Vault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Tamper-Proof Digital Chain of Custody</a:t>
            </a:r>
          </a:p>
          <a:p>
            <a:pPr>
              <a:spcBef>
                <a:spcPts val="800"/>
              </a:spcBef>
              <a:defRPr b="1" sz="1300">
                <a:solidFill>
                  <a:srgbClr val="F59E0B"/>
                </a:solidFill>
              </a:defRPr>
            </a:pPr>
            <a:r>
              <a:t>- SHA-256 Fingerprinting: </a:t>
            </a:r>
            <a:r>
              <a:rPr b="0">
                <a:solidFill>
                  <a:srgbClr val="E2E8F0"/>
                </a:solidFill>
              </a:rPr>
              <a:t>Every photo, video, audio, or document is hashed at ingestion to guarantee zero post-capture tampering.</a:t>
            </a:r>
          </a:p>
          <a:p>
            <a:pPr>
              <a:spcBef>
                <a:spcPts val="800"/>
              </a:spcBef>
              <a:defRPr b="1" sz="1300">
                <a:solidFill>
                  <a:srgbClr val="F59E0B"/>
                </a:solidFill>
              </a:defRPr>
            </a:pPr>
            <a:r>
              <a:t>- Forensic Telemetry Sealing: </a:t>
            </a:r>
            <a:r>
              <a:rPr b="0">
                <a:solidFill>
                  <a:srgbClr val="E2E8F0"/>
                </a:solidFill>
              </a:rPr>
              <a:t>Automatically embeds device hardware ID, microsecond timestamps, GPS accuracy, and altitude.</a:t>
            </a:r>
          </a:p>
          <a:p>
            <a:pPr>
              <a:spcBef>
                <a:spcPts val="800"/>
              </a:spcBef>
              <a:defRPr b="1" sz="1300">
                <a:solidFill>
                  <a:srgbClr val="F59E0B"/>
                </a:solidFill>
              </a:defRPr>
            </a:pPr>
            <a:r>
              <a:t>- Admissible Exhibit Dockets: </a:t>
            </a:r>
            <a:r>
              <a:rPr b="0">
                <a:solidFill>
                  <a:srgbClr val="E2E8F0"/>
                </a:solidFill>
              </a:rPr>
              <a:t>Official court-ready ledger with permanent digital seals and legal exhibit identifiers.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011680"/>
            <a:ext cx="521208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PILLAR 2: Google Gemma Intelligence</a:t>
            </a:r>
          </a:p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</a:defRPr>
            </a:pPr>
            <a:r>
              <a:t>Private Legal Reasoning &amp; Synthesis</a:t>
            </a:r>
          </a:p>
          <a:p>
            <a:pPr>
              <a:spcBef>
                <a:spcPts val="800"/>
              </a:spcBef>
              <a:defRPr b="1" sz="1300">
                <a:solidFill>
                  <a:srgbClr val="A855F7"/>
                </a:solidFill>
              </a:defRPr>
            </a:pPr>
            <a:r>
              <a:t>- Automated Evidence Forensics: </a:t>
            </a:r>
            <a:r>
              <a:rPr b="0">
                <a:solidFill>
                  <a:srgbClr val="E2E8F0"/>
                </a:solidFill>
              </a:rPr>
              <a:t>Gemma scrutinizes metadata contradictions, EXIF timelines, and drafts structured analysis reports.</a:t>
            </a:r>
          </a:p>
          <a:p>
            <a:pPr>
              <a:spcBef>
                <a:spcPts val="800"/>
              </a:spcBef>
              <a:defRPr b="1" sz="1300">
                <a:solidFill>
                  <a:srgbClr val="A855F7"/>
                </a:solidFill>
              </a:defRPr>
            </a:pPr>
            <a:r>
              <a:t>- Case Docket Brief Generator: </a:t>
            </a:r>
            <a:r>
              <a:rPr b="0">
                <a:solidFill>
                  <a:srgbClr val="E2E8F0"/>
                </a:solidFill>
              </a:rPr>
              <a:t>Synthesizes dozens of evidence items into coherent judicial case summaries with strengths and gaps.</a:t>
            </a:r>
          </a:p>
          <a:p>
            <a:pPr>
              <a:spcBef>
                <a:spcPts val="800"/>
              </a:spcBef>
              <a:defRPr b="1" sz="1300">
                <a:solidFill>
                  <a:srgbClr val="A855F7"/>
                </a:solidFill>
              </a:defRPr>
            </a:pPr>
            <a:r>
              <a:t>- 100% Private &amp; Sovereign: </a:t>
            </a:r>
            <a:r>
              <a:rPr b="0">
                <a:solidFill>
                  <a:srgbClr val="E2E8F0"/>
                </a:solidFill>
              </a:rPr>
              <a:t>Open weights allow on-premise courthouse deployment. Zero witness data leaves legal jurisdiction.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CORE CAPABILITIES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The Evidentiary AI Suite: Built with Gemma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Four production-grade judicial AI workflows engineered for judges, prosecutors, lawyers, and investigators.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01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Evidence Forensics</a:t>
            </a:r>
          </a:p>
          <a:p>
            <a:pPr>
              <a:spcAft>
                <a:spcPts val="1200"/>
              </a:spcAft>
              <a:defRPr sz="1000" b="1">
                <a:solidFill>
                  <a:srgbClr val="94A3B8"/>
                </a:solidFill>
              </a:defRPr>
            </a:pPr>
            <a:r>
              <a:t>Exhibit-by-Exhibit Audit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Scans title, description, and telemetry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Cross-checks capture time vs upload time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Evaluates admissibility risks &amp; chain breaks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Outputs structured legal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Docket Briefing</a:t>
            </a:r>
          </a:p>
          <a:p>
            <a:pPr>
              <a:spcAft>
                <a:spcPts val="1200"/>
              </a:spcAft>
              <a:defRPr sz="1000" b="1">
                <a:solidFill>
                  <a:srgbClr val="94A3B8"/>
                </a:solidFill>
              </a:defRPr>
            </a:pPr>
            <a:r>
              <a:t>Multi-Evidence Synthesis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Aggregates all linked case exhibits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Reconstructs unified incident timeline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Identifies witness inconsistencies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Highlights critical gaps for cross-exam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Judicial AI Hub</a:t>
            </a:r>
          </a:p>
          <a:p>
            <a:pPr>
              <a:spcAft>
                <a:spcPts val="1200"/>
              </a:spcAft>
              <a:defRPr sz="1000" b="1">
                <a:solidFill>
                  <a:srgbClr val="94A3B8"/>
                </a:solidFill>
              </a:defRPr>
            </a:pPr>
            <a:r>
              <a:t>Central Command Center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Real-time API connection diagnostics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Model parameter &amp; temperature tuning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Quick-action shortcuts for court staff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Role-gated access (Judge / Lawyer / 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Admissibility Proofs</a:t>
            </a:r>
          </a:p>
          <a:p>
            <a:pPr>
              <a:spcAft>
                <a:spcPts val="1200"/>
              </a:spcAft>
              <a:defRPr sz="1000" b="1">
                <a:solidFill>
                  <a:srgbClr val="94A3B8"/>
                </a:solidFill>
              </a:defRPr>
            </a:pPr>
            <a:r>
              <a:t>Tamper-Proof Certificate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Courtroom printable exhibit records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Embedded cryptographic SHA-256 seal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Chain-of-custody transfer logs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- Judicial verification sign-off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WHY GEMMA?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Why Google Gemma? The Judicial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Gemma is uniquely and fundamentally superior to proprietary black-box APIs for the legal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PRIVACY &amp; COMPLIANCE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Open Weights = Judicial Sovereignty</a:t>
            </a:r>
          </a:p>
          <a:p>
            <a:pPr>
              <a:lnSpc>
                <a:spcPct val="120000"/>
              </a:lnSpc>
              <a:defRPr sz="1200">
                <a:solidFill>
                  <a:srgbClr val="E2E8F0"/>
                </a:solidFill>
              </a:defRPr>
            </a:pPr>
            <a:r>
              <a:t>Courts cannot surrender sovereign legal data to commercial cloud vendors. Gemma enables on-premise government hosting with zero outside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EDGE ACCESSIBILITY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Compact &amp; Edge Deployable</a:t>
            </a:r>
          </a:p>
          <a:p>
            <a:pPr>
              <a:lnSpc>
                <a:spcPct val="120000"/>
              </a:lnSpc>
              <a:defRPr sz="1200">
                <a:solidFill>
                  <a:srgbClr val="E2E8F0"/>
                </a:solidFill>
              </a:defRPr>
            </a:pPr>
            <a:r>
              <a:t>From Gemma 3 1B to Gemma 2 9B/27B, the architecture runs fast on courthouse workstations, police laptops, or local secure servers without multi-million dollar GPU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REASONING FIDELITY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Rigorous Structured Output</a:t>
            </a:r>
          </a:p>
          <a:p>
            <a:pPr>
              <a:lnSpc>
                <a:spcPct val="120000"/>
              </a:lnSpc>
              <a:defRPr sz="1200">
                <a:solidFill>
                  <a:srgbClr val="E2E8F0"/>
                </a:solidFill>
              </a:defRPr>
            </a:pPr>
            <a:r>
              <a:t>Exceptional adherence to JSON schemas and legal taxonomies, eliminating hallucinations when extracting dates, coordinates, and chain-of-custody discrepancies.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EQUAL ACCESS TO JUSTICE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F8FAFC"/>
                </a:solidFill>
              </a:defRPr>
            </a:pPr>
            <a:r>
              <a:t>90% Cost Reduction vs Big Cloud</a:t>
            </a:r>
          </a:p>
          <a:p>
            <a:pPr>
              <a:lnSpc>
                <a:spcPct val="120000"/>
              </a:lnSpc>
              <a:defRPr sz="1200">
                <a:solidFill>
                  <a:srgbClr val="E2E8F0"/>
                </a:solidFill>
              </a:defRPr>
            </a:pPr>
            <a:r>
              <a:t>Public defense funds and developing nation judiciaries cannot pay $0.03 per prompt to monopolistic APIs. Gemma delivers sovereign AI at negligible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HOW IT WORKS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From citizen witness or police bodycam to courtroom-admissible, AI-briefed case docket.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Secure Capture</a:t>
            </a:r>
          </a:p>
          <a:p>
            <a:pPr>
              <a:spcAft>
                <a:spcPts val="1400"/>
              </a:spcAft>
              <a:defRPr sz="1000" b="1">
                <a:solidFill>
                  <a:srgbClr val="94A3B8"/>
                </a:solidFill>
              </a:defRPr>
            </a:pPr>
            <a:r>
              <a:t>Web &amp; Capacitor Mobile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Witness or officer uploads media. System extracts EXIF, GPS, altitude, device model, and computes SHA-256 hash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STEP 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Vault Sealing</a:t>
            </a:r>
          </a:p>
          <a:p>
            <a:pPr>
              <a:spcAft>
                <a:spcPts val="1400"/>
              </a:spcAft>
              <a:defRPr sz="1000" b="1">
                <a:solidFill>
                  <a:srgbClr val="94A3B8"/>
                </a:solidFill>
              </a:defRPr>
            </a:pPr>
            <a:r>
              <a:t>Laravel 11 &amp; MySQL/SQLite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File is stored in isolated tamper-evident vault. Metadata and hash are locked with timestamped chain-of-custody audit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STEP 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Gemma AI Engine</a:t>
            </a:r>
          </a:p>
          <a:p>
            <a:pPr>
              <a:spcAft>
                <a:spcPts val="1400"/>
              </a:spcAft>
              <a:defRPr sz="1000" b="1">
                <a:solidFill>
                  <a:srgbClr val="94A3B8"/>
                </a:solidFill>
              </a:defRPr>
            </a:pPr>
            <a:r>
              <a:t>Google AI Studio / Gemma 3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Gemma analyzes metadata, validates incident timelines, inspects integrity flags, and produces forensic legal evaluations.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STEP 4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Judicial Decision</a:t>
            </a:r>
          </a:p>
          <a:p>
            <a:pPr>
              <a:spcAft>
                <a:spcPts val="1400"/>
              </a:spcAft>
              <a:defRPr sz="1000" b="1">
                <a:solidFill>
                  <a:srgbClr val="94A3B8"/>
                </a:solidFill>
              </a:defRPr>
            </a:pPr>
            <a:r>
              <a:t>Judge &amp; Lawyer Dashboard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Lawyers bundle evidence into Case Dockets. Judges review Gemma-generated executive briefs and examine verified exhibits.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REAL-WORLD IMPACT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Live Case Walkthrough: Robbery Investigation #EWV-2026-0014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Demonstrating Gemma's forensic analysis on multi-exhibit criminal court docket.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EVIDENTIARY EXHIBITS INGESTED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</a:defRPr>
            </a:pPr>
            <a:r>
              <a:t>Case Docket #EWV-2026-0014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Exhibit #001: CCTV Footage (Timestamp: 23:14:02 UTC | SHA: e8b9...f2)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Exhibit #002: Eyewitness Mobile Photo (GPS: 0.3476N, 32.5825E | 23:16:10)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Exhibit #003: Ballistic Match Ballistics Report (.pdf)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Exhibit #004: Witness Statement Audio (.m4a)</a:t>
            </a:r>
          </a:p>
          <a:p>
            <a:pPr>
              <a:spcBef>
                <a:spcPts val="1400"/>
              </a:spcBef>
              <a:defRPr sz="1100" i="1">
                <a:solidFill>
                  <a:srgbClr val="06B6D4"/>
                </a:solidFill>
              </a:defRPr>
            </a:pPr>
            <a:r>
              <a:t>All exhibits sealed with cryptographic hashes &amp; device audit trails.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011680"/>
            <a:ext cx="521208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GEMMA AI SYNTHESIS OUTPUT</a:t>
            </a:r>
          </a:p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</a:defRPr>
            </a:pPr>
            <a:r>
              <a:t>Judicial Briefing in 1.4 Seconds</a:t>
            </a:r>
          </a:p>
          <a:p>
            <a:pPr>
              <a:spcBef>
                <a:spcPts val="500"/>
              </a:spcBef>
              <a:defRPr b="1" sz="1200">
                <a:solidFill>
                  <a:srgbClr val="A855F7"/>
                </a:solidFill>
              </a:defRPr>
            </a:pPr>
            <a:r>
              <a:t>- Timeline Alignment: </a:t>
            </a:r>
            <a:r>
              <a:rPr b="0">
                <a:solidFill>
                  <a:srgbClr val="E2E8F0"/>
                </a:solidFill>
              </a:rPr>
              <a:t>Synchronized 4 exhibits to establish a 4-minute incident timeline between 23:13 and 23:17.</a:t>
            </a:r>
          </a:p>
          <a:p>
            <a:pPr>
              <a:spcBef>
                <a:spcPts val="500"/>
              </a:spcBef>
              <a:defRPr b="1" sz="1200">
                <a:solidFill>
                  <a:srgbClr val="A855F7"/>
                </a:solidFill>
              </a:defRPr>
            </a:pPr>
            <a:r>
              <a:t>- Critical Contradiction Detected: </a:t>
            </a:r>
            <a:r>
              <a:rPr b="0">
                <a:solidFill>
                  <a:srgbClr val="E2E8F0"/>
                </a:solidFill>
              </a:rPr>
              <a:t>Exhibit #002 GPS coordinates place witness 1.2km away from Exhibit #001 CCTV location!</a:t>
            </a:r>
          </a:p>
          <a:p>
            <a:pPr>
              <a:spcBef>
                <a:spcPts val="500"/>
              </a:spcBef>
              <a:defRPr b="1" sz="1200">
                <a:solidFill>
                  <a:srgbClr val="A855F7"/>
                </a:solidFill>
              </a:defRPr>
            </a:pPr>
            <a:r>
              <a:t>- Admissibility Score: 94/100: </a:t>
            </a:r>
            <a:r>
              <a:rPr b="0">
                <a:solidFill>
                  <a:srgbClr val="E2E8F0"/>
                </a:solidFill>
              </a:rPr>
              <a:t>Chain of custody unbroken; all cryptographic hashes match raw source.</a:t>
            </a:r>
          </a:p>
          <a:p>
            <a:pPr>
              <a:spcBef>
                <a:spcPts val="500"/>
              </a:spcBef>
              <a:defRPr b="1" sz="1200">
                <a:solidFill>
                  <a:srgbClr val="A855F7"/>
                </a:solidFill>
              </a:defRPr>
            </a:pPr>
            <a:r>
              <a:t>- Prosecution Question: </a:t>
            </a:r>
            <a:r>
              <a:rPr b="0">
                <a:solidFill>
                  <a:srgbClr val="E2E8F0"/>
                </a:solidFill>
              </a:rPr>
              <a:t>Ask witness why metadata timestamp precedes CCTV vehicle arrival.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COMPETITIVE LANDSCAPE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Competitive Moat: Why eWitnessVault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Comparing eWitnessVault with traditional LegalTech software and generic AI tools.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468880"/>
                <a:gridCol w="2499055"/>
              </a:tblGrid>
              <a:tr h="804672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eWitnessVault (Gemma)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Traditional LegalTech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8FAFC"/>
                          </a:solidFill>
                        </a:defRPr>
                      </a:pPr>
                      <a:r>
                        <a:t>Generic AI (ChatGPT/Claude)</a:t>
                      </a:r>
                    </a:p>
                  </a:txBody>
                  <a:tcPr>
                    <a:solidFill>
                      <a:srgbClr val="1A2640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Cryptographic Tamper-Proof Sealing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YES (SHA-256 + EXIF)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(Standard file storage)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(Zero file provenance)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Private Sovereign AI Reasoning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YES (Google Gemma Open)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(No AI capabilities)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(Data sent to US multi-tenant)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Courtroom Exhibit Dockets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YES (Admissible certificates)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Partial (Clunky PDF exports)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(Unformatted text responses)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Hardware / Edge Deployment Ready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YES (Gemma 3 1B/4B/12B)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(Legacy on-prem monoliths)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94A3B8"/>
                          </a:solidFill>
                        </a:defRPr>
                      </a:pPr>
                      <a:r>
                        <a:t>NO (Cloud API connection only)</a:t>
                      </a:r>
                    </a:p>
                  </a:txBody>
                  <a:tcPr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COMMERCIAL VIABILITY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Market Opportunity &amp;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Capturing high-margin GovTech &amp; LegalTech segments with scalable sovereign deployments.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$35B+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GLOBAL LEGALTECH MARKET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Market Scale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Judiciaries, law firms, and court clerks worldwide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Accelerated by digital court modernization mandates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Expanding in emerging markets with severe court backlog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3-Tier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ENTERPRISE MONETIZATION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Revenue Model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SaaS Subscription: Tiered per legal seat/lawyer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Sovereign Node License: On-prem Gemma for Judiciaries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High-Volume Case API: Forensic evidence hashing &amp; AI briefs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011680"/>
            <a:ext cx="342900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3" y="214884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75%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TRIAL PREP TIME SAVINGS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ROI for Clients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Reduces evidence review time from weeks to hours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Eliminates chain-of-custody evidentiary mistrials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</a:defRPr>
            </a:pPr>
            <a:r>
              <a:t>- Enables public defenders to represent 3x more clients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FUTURE VISION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Strategic Roadmap: Building the Sovereign Judicial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Scaling from today's hackathon prototype to nationwide legal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PHASE 1 (NOW)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Q2 2026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Gemma AI Suite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Live evidence analysis, automated case docket briefs, cryptographic SHA-256 vault sealing, and role-based access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PHASE 2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Q3 2026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Multimodal Gemma 3 Vision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Direct frame-by-frame deepfake analysis, audio voiceprint forensics, and automated video transcript 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3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Q4 2026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Courthouse Edge Nodes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Pre-configured air-gapped Gemma appliances for confidential supreme courts and military tribunals.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011680"/>
            <a:ext cx="2560320" cy="4206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1488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2027+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Global Justice Network</a:t>
            </a:r>
          </a:p>
          <a:p>
            <a:pPr>
              <a:lnSpc>
                <a:spcPct val="130000"/>
              </a:lnSpc>
              <a:defRPr sz="1200">
                <a:solidFill>
                  <a:srgbClr val="E2E8F0"/>
                </a:solidFill>
              </a:defRPr>
            </a:pPr>
            <a:r>
              <a:t>Inter-agency cross-jurisdiction evidence verification for international human rights tribunals and interpol dockets.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[  JUDGING CRITERIA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Georgia"/>
              </a:defRPr>
            </a:pPr>
            <a:r>
              <a:t>Why eWitnessVault Wins the Gemma Hackafest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Evaluating eWitnessVault across all hackathon evaluation pillars.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INNOVATION &amp; IMPACT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700" b="1">
                <a:solidFill>
                  <a:srgbClr val="F8FAFC"/>
                </a:solidFill>
              </a:defRPr>
            </a:pPr>
            <a:r>
              <a:t>Solves a Real Humanitarian Need</a:t>
            </a:r>
          </a:p>
          <a:p>
            <a:pPr>
              <a:lnSpc>
                <a:spcPct val="125000"/>
              </a:lnSpc>
              <a:defRPr sz="1200">
                <a:solidFill>
                  <a:srgbClr val="E2E8F0"/>
                </a:solidFill>
              </a:defRPr>
            </a:pPr>
            <a:r>
              <a:t>Not just another chat toy. Solves court backlogs and false convictions with cryptographic certainty and ethical, sovereign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TECHNICAL EXECUTION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700" b="1">
                <a:solidFill>
                  <a:srgbClr val="F8FAFC"/>
                </a:solidFill>
              </a:defRPr>
            </a:pPr>
            <a:r>
              <a:t>Full Production Full-Stack App</a:t>
            </a:r>
          </a:p>
          <a:p>
            <a:pPr>
              <a:lnSpc>
                <a:spcPct val="125000"/>
              </a:lnSpc>
              <a:defRPr sz="1200">
                <a:solidFill>
                  <a:srgbClr val="E2E8F0"/>
                </a:solidFill>
              </a:defRPr>
            </a:pPr>
            <a:r>
              <a:t>Laravel 11 backend, reactive Blade UI, REST API, MySQL/SQLite database schema, custom GemmaService, and verified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DEEP GEMMA UTILIZATION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700" b="1">
                <a:solidFill>
                  <a:srgbClr val="F8FAFC"/>
                </a:solidFill>
              </a:defRPr>
            </a:pPr>
            <a:r>
              <a:t>Leverages Gemma's Core DNA</a:t>
            </a:r>
          </a:p>
          <a:p>
            <a:pPr>
              <a:lnSpc>
                <a:spcPct val="125000"/>
              </a:lnSpc>
              <a:defRPr sz="1200">
                <a:solidFill>
                  <a:srgbClr val="E2E8F0"/>
                </a:solidFill>
              </a:defRPr>
            </a:pPr>
            <a:r>
              <a:t>Capitalizes on Gemma's open weights, privacy sovereignty, structured outputs, and lightweight edge footprint for judicial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19659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POLISH &amp; COMPLETENESS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700" b="1">
                <a:solidFill>
                  <a:srgbClr val="F8FAFC"/>
                </a:solidFill>
              </a:defRPr>
            </a:pPr>
            <a:r>
              <a:t>Live, Working &amp; Deployed</a:t>
            </a:r>
          </a:p>
          <a:p>
            <a:pPr>
              <a:lnSpc>
                <a:spcPct val="125000"/>
              </a:lnSpc>
              <a:defRPr sz="1200">
                <a:solidFill>
                  <a:srgbClr val="E2E8F0"/>
                </a:solidFill>
              </a:defRPr>
            </a:pPr>
            <a:r>
              <a:t>Real git commit history, comprehensive views, navigation integration, and active repository at github.com/gilbertinkamanyire/Hackafest-.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998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SEALING TRUTH. ACCELERATING JUSTICE.</a:t>
            </a:r>
          </a:p>
          <a:p>
            <a:pPr>
              <a:spcBef>
                <a:spcPts val="1000"/>
              </a:spcBef>
              <a:defRPr sz="3800" b="1">
                <a:solidFill>
                  <a:srgbClr val="F59E0B"/>
                </a:solidFill>
                <a:latin typeface="Georgia"/>
              </a:defRPr>
            </a:pPr>
            <a:r>
              <a:t>Experience the Future of Evidentiary AI</a:t>
            </a:r>
          </a:p>
          <a:p>
            <a:pPr>
              <a:spcBef>
                <a:spcPts val="1400"/>
              </a:spcBef>
              <a:spcAft>
                <a:spcPts val="20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eWitnessVault is ready for courtroom trials, legal defense teams, and human rights missions worldwide.</a:t>
            </a:r>
          </a:p>
          <a:p>
            <a:pPr>
              <a:defRPr sz="1500" b="1">
                <a:solidFill>
                  <a:srgbClr val="06B6D4"/>
                </a:solidFill>
                <a:latin typeface="Calibri"/>
              </a:defRPr>
            </a:pPr>
            <a:r>
              <a:t>Repository: https://github.com/gilbertinkamanyire/Hackafest-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Lead Developer: Gilbert Inkamanyire | eWitnessVault Core Team</a:t>
            </a:r>
          </a:p>
          <a:p>
            <a:pPr>
              <a:spcBef>
                <a:spcPts val="1600"/>
              </a:spcBef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Thank you Judges &amp; Google Gemma Team! We are 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